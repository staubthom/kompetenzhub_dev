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258" r:id="rId3"/>
    <p:sldId id="259" r:id="rId4"/>
    <p:sldId id="261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A0449F-B92E-404C-AB44-9C229947C210}" v="9" dt="2026-06-20T07:03:08.5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89273" autoAdjust="0"/>
  </p:normalViewPr>
  <p:slideViewPr>
    <p:cSldViewPr snapToGrid="0">
      <p:cViewPr varScale="1">
        <p:scale>
          <a:sx n="99" d="100"/>
          <a:sy n="99" d="100"/>
        </p:scale>
        <p:origin x="1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Staub" userId="addb39f17f3ae151" providerId="LiveId" clId="{479EFD69-C37D-4597-A890-FA5E07702BF5}"/>
    <pc:docChg chg="custSel addSld delSld modSld">
      <pc:chgData name="Thomas Staub" userId="addb39f17f3ae151" providerId="LiveId" clId="{479EFD69-C37D-4597-A890-FA5E07702BF5}" dt="2026-06-20T07:03:37.723" v="97" actId="47"/>
      <pc:docMkLst>
        <pc:docMk/>
      </pc:docMkLst>
      <pc:sldChg chg="addSp delSp modSp mod">
        <pc:chgData name="Thomas Staub" userId="addb39f17f3ae151" providerId="LiveId" clId="{479EFD69-C37D-4597-A890-FA5E07702BF5}" dt="2026-06-20T06:59:23.928" v="21" actId="20577"/>
        <pc:sldMkLst>
          <pc:docMk/>
          <pc:sldMk cId="2426011969" sldId="256"/>
        </pc:sldMkLst>
        <pc:spChg chg="del">
          <ac:chgData name="Thomas Staub" userId="addb39f17f3ae151" providerId="LiveId" clId="{479EFD69-C37D-4597-A890-FA5E07702BF5}" dt="2026-06-20T06:58:39.353" v="0" actId="478"/>
          <ac:spMkLst>
            <pc:docMk/>
            <pc:sldMk cId="2426011969" sldId="256"/>
            <ac:spMk id="2" creationId="{00000000-0000-0000-0000-000000000000}"/>
          </ac:spMkLst>
        </pc:spChg>
        <pc:spChg chg="del">
          <ac:chgData name="Thomas Staub" userId="addb39f17f3ae151" providerId="LiveId" clId="{479EFD69-C37D-4597-A890-FA5E07702BF5}" dt="2026-06-20T06:58:40.839" v="1" actId="478"/>
          <ac:spMkLst>
            <pc:docMk/>
            <pc:sldMk cId="2426011969" sldId="256"/>
            <ac:spMk id="3" creationId="{00000000-0000-0000-0000-000000000000}"/>
          </ac:spMkLst>
        </pc:spChg>
        <pc:spChg chg="add mod">
          <ac:chgData name="Thomas Staub" userId="addb39f17f3ae151" providerId="LiveId" clId="{479EFD69-C37D-4597-A890-FA5E07702BF5}" dt="2026-06-20T06:59:23.928" v="21" actId="20577"/>
          <ac:spMkLst>
            <pc:docMk/>
            <pc:sldMk cId="2426011969" sldId="256"/>
            <ac:spMk id="5" creationId="{A3ED86AD-78E4-A32C-D0A7-38AD5DA3A02E}"/>
          </ac:spMkLst>
        </pc:spChg>
        <pc:graphicFrameChg chg="add mod modGraphic">
          <ac:chgData name="Thomas Staub" userId="addb39f17f3ae151" providerId="LiveId" clId="{479EFD69-C37D-4597-A890-FA5E07702BF5}" dt="2026-06-20T06:59:16.996" v="17" actId="1076"/>
          <ac:graphicFrameMkLst>
            <pc:docMk/>
            <pc:sldMk cId="2426011969" sldId="256"/>
            <ac:graphicFrameMk id="4" creationId="{1CBD87F6-D08C-ECCE-7BBB-701DAC3BBDD2}"/>
          </ac:graphicFrameMkLst>
        </pc:graphicFrameChg>
      </pc:sldChg>
      <pc:sldChg chg="new del">
        <pc:chgData name="Thomas Staub" userId="addb39f17f3ae151" providerId="LiveId" clId="{479EFD69-C37D-4597-A890-FA5E07702BF5}" dt="2026-06-20T07:01:28.574" v="57" actId="47"/>
        <pc:sldMkLst>
          <pc:docMk/>
          <pc:sldMk cId="1253654980" sldId="257"/>
        </pc:sldMkLst>
      </pc:sldChg>
      <pc:sldChg chg="addSp delSp modSp add mod">
        <pc:chgData name="Thomas Staub" userId="addb39f17f3ae151" providerId="LiveId" clId="{479EFD69-C37D-4597-A890-FA5E07702BF5}" dt="2026-06-20T07:01:18.548" v="55" actId="403"/>
        <pc:sldMkLst>
          <pc:docMk/>
          <pc:sldMk cId="552080566" sldId="258"/>
        </pc:sldMkLst>
        <pc:spChg chg="mod">
          <ac:chgData name="Thomas Staub" userId="addb39f17f3ae151" providerId="LiveId" clId="{479EFD69-C37D-4597-A890-FA5E07702BF5}" dt="2026-06-20T07:00:41.479" v="41" actId="404"/>
          <ac:spMkLst>
            <pc:docMk/>
            <pc:sldMk cId="552080566" sldId="258"/>
            <ac:spMk id="5" creationId="{91BB7DFD-5095-8B9F-5B1B-BDA72F122628}"/>
          </ac:spMkLst>
        </pc:spChg>
        <pc:graphicFrameChg chg="add del mod modGraphic">
          <ac:chgData name="Thomas Staub" userId="addb39f17f3ae151" providerId="LiveId" clId="{479EFD69-C37D-4597-A890-FA5E07702BF5}" dt="2026-06-20T07:01:00.114" v="43" actId="478"/>
          <ac:graphicFrameMkLst>
            <pc:docMk/>
            <pc:sldMk cId="552080566" sldId="258"/>
            <ac:graphicFrameMk id="2" creationId="{E55C6C87-F4CB-9D93-F1C8-BD2F4E7F4AD2}"/>
          </ac:graphicFrameMkLst>
        </pc:graphicFrameChg>
        <pc:graphicFrameChg chg="add mod modGraphic">
          <ac:chgData name="Thomas Staub" userId="addb39f17f3ae151" providerId="LiveId" clId="{479EFD69-C37D-4597-A890-FA5E07702BF5}" dt="2026-06-20T07:01:18.548" v="55" actId="403"/>
          <ac:graphicFrameMkLst>
            <pc:docMk/>
            <pc:sldMk cId="552080566" sldId="258"/>
            <ac:graphicFrameMk id="3" creationId="{59D39A13-7FDE-E2C9-44C1-FF8E4D8013BA}"/>
          </ac:graphicFrameMkLst>
        </pc:graphicFrameChg>
        <pc:graphicFrameChg chg="del">
          <ac:chgData name="Thomas Staub" userId="addb39f17f3ae151" providerId="LiveId" clId="{479EFD69-C37D-4597-A890-FA5E07702BF5}" dt="2026-06-20T06:59:49.595" v="27" actId="478"/>
          <ac:graphicFrameMkLst>
            <pc:docMk/>
            <pc:sldMk cId="552080566" sldId="258"/>
            <ac:graphicFrameMk id="4" creationId="{9A5611B0-6113-ED80-6C55-3872DAD2A5CF}"/>
          </ac:graphicFrameMkLst>
        </pc:graphicFrameChg>
      </pc:sldChg>
      <pc:sldChg chg="addSp delSp modSp add mod">
        <pc:chgData name="Thomas Staub" userId="addb39f17f3ae151" providerId="LiveId" clId="{479EFD69-C37D-4597-A890-FA5E07702BF5}" dt="2026-06-20T07:02:27.121" v="73" actId="403"/>
        <pc:sldMkLst>
          <pc:docMk/>
          <pc:sldMk cId="1433125541" sldId="259"/>
        </pc:sldMkLst>
        <pc:spChg chg="mod">
          <ac:chgData name="Thomas Staub" userId="addb39f17f3ae151" providerId="LiveId" clId="{479EFD69-C37D-4597-A890-FA5E07702BF5}" dt="2026-06-20T07:01:47.954" v="60" actId="20577"/>
          <ac:spMkLst>
            <pc:docMk/>
            <pc:sldMk cId="1433125541" sldId="259"/>
            <ac:spMk id="5" creationId="{27952BCA-D949-91A6-0AF0-33435ABA13F9}"/>
          </ac:spMkLst>
        </pc:spChg>
        <pc:graphicFrameChg chg="add mod modGraphic">
          <ac:chgData name="Thomas Staub" userId="addb39f17f3ae151" providerId="LiveId" clId="{479EFD69-C37D-4597-A890-FA5E07702BF5}" dt="2026-06-20T07:02:27.121" v="73" actId="403"/>
          <ac:graphicFrameMkLst>
            <pc:docMk/>
            <pc:sldMk cId="1433125541" sldId="259"/>
            <ac:graphicFrameMk id="2" creationId="{18C9D7EB-DCAD-8F61-1AE3-331B05C82C8B}"/>
          </ac:graphicFrameMkLst>
        </pc:graphicFrameChg>
        <pc:graphicFrameChg chg="del">
          <ac:chgData name="Thomas Staub" userId="addb39f17f3ae151" providerId="LiveId" clId="{479EFD69-C37D-4597-A890-FA5E07702BF5}" dt="2026-06-20T07:01:58.659" v="61" actId="478"/>
          <ac:graphicFrameMkLst>
            <pc:docMk/>
            <pc:sldMk cId="1433125541" sldId="259"/>
            <ac:graphicFrameMk id="3" creationId="{8E8B7127-E82D-071C-FCB6-AEC2CB6AB187}"/>
          </ac:graphicFrameMkLst>
        </pc:graphicFrameChg>
      </pc:sldChg>
      <pc:sldChg chg="new del">
        <pc:chgData name="Thomas Staub" userId="addb39f17f3ae151" providerId="LiveId" clId="{479EFD69-C37D-4597-A890-FA5E07702BF5}" dt="2026-06-20T07:03:37.723" v="97" actId="47"/>
        <pc:sldMkLst>
          <pc:docMk/>
          <pc:sldMk cId="1696917441" sldId="260"/>
        </pc:sldMkLst>
      </pc:sldChg>
      <pc:sldChg chg="addSp delSp modSp add mod">
        <pc:chgData name="Thomas Staub" userId="addb39f17f3ae151" providerId="LiveId" clId="{479EFD69-C37D-4597-A890-FA5E07702BF5}" dt="2026-06-20T07:03:28.754" v="96" actId="1076"/>
        <pc:sldMkLst>
          <pc:docMk/>
          <pc:sldMk cId="1119135836" sldId="261"/>
        </pc:sldMkLst>
        <pc:spChg chg="mod">
          <ac:chgData name="Thomas Staub" userId="addb39f17f3ae151" providerId="LiveId" clId="{479EFD69-C37D-4597-A890-FA5E07702BF5}" dt="2026-06-20T07:02:57.322" v="81" actId="20577"/>
          <ac:spMkLst>
            <pc:docMk/>
            <pc:sldMk cId="1119135836" sldId="261"/>
            <ac:spMk id="5" creationId="{87E2319A-6301-7B66-0617-323A67BD4810}"/>
          </ac:spMkLst>
        </pc:spChg>
        <pc:graphicFrameChg chg="del">
          <ac:chgData name="Thomas Staub" userId="addb39f17f3ae151" providerId="LiveId" clId="{479EFD69-C37D-4597-A890-FA5E07702BF5}" dt="2026-06-20T07:02:59.930" v="82" actId="478"/>
          <ac:graphicFrameMkLst>
            <pc:docMk/>
            <pc:sldMk cId="1119135836" sldId="261"/>
            <ac:graphicFrameMk id="2" creationId="{F1AACC58-BFF4-3950-1C07-FF8C2D4D2D29}"/>
          </ac:graphicFrameMkLst>
        </pc:graphicFrameChg>
        <pc:graphicFrameChg chg="add mod modGraphic">
          <ac:chgData name="Thomas Staub" userId="addb39f17f3ae151" providerId="LiveId" clId="{479EFD69-C37D-4597-A890-FA5E07702BF5}" dt="2026-06-20T07:03:28.754" v="96" actId="1076"/>
          <ac:graphicFrameMkLst>
            <pc:docMk/>
            <pc:sldMk cId="1119135836" sldId="261"/>
            <ac:graphicFrameMk id="3" creationId="{E9F74575-E060-1010-4344-E9CDCA4EEE0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zhalter für Überschrif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de-DE" smtClean="0"/>
              <a:t>20.06.2026</a:t>
            </a:fld>
            <a:endParaRPr lang="de-DE"/>
          </a:p>
        </p:txBody>
      </p:sp>
      <p:sp>
        <p:nvSpPr>
          <p:cNvPr id="4" name="Platzhalter für Folienbi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Platzhalter für Notizen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zhalter für Folienbild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Platzhalter für Notize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78B82-57D5-8E30-8EBF-508D8FB25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zhalter für Folienbild 1">
            <a:extLst>
              <a:ext uri="{FF2B5EF4-FFF2-40B4-BE49-F238E27FC236}">
                <a16:creationId xmlns:a16="http://schemas.microsoft.com/office/drawing/2014/main" id="{17B968FF-F3FB-224E-D27E-D1A6DFA49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Platzhalter für Notizen 2">
            <a:extLst>
              <a:ext uri="{FF2B5EF4-FFF2-40B4-BE49-F238E27FC236}">
                <a16:creationId xmlns:a16="http://schemas.microsoft.com/office/drawing/2014/main" id="{05FC2307-231C-9003-015C-CE1D7382A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5EF9DC-38BB-2332-B29F-61D5B78421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6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8C8B3-3646-D72F-64D1-477620FB7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zhalter für Folienbild 1">
            <a:extLst>
              <a:ext uri="{FF2B5EF4-FFF2-40B4-BE49-F238E27FC236}">
                <a16:creationId xmlns:a16="http://schemas.microsoft.com/office/drawing/2014/main" id="{912A4B77-12A7-A06C-6FD7-92A7B9CC2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Platzhalter für Notizen 2">
            <a:extLst>
              <a:ext uri="{FF2B5EF4-FFF2-40B4-BE49-F238E27FC236}">
                <a16:creationId xmlns:a16="http://schemas.microsoft.com/office/drawing/2014/main" id="{764D1647-6EE6-3C6B-CBB5-9F2B996D9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9C83D91-31EF-E3DA-287C-DD06D45098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424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F82E1-BA80-C35E-3733-D4AC32EFD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zhalter für Folienbild 1">
            <a:extLst>
              <a:ext uri="{FF2B5EF4-FFF2-40B4-BE49-F238E27FC236}">
                <a16:creationId xmlns:a16="http://schemas.microsoft.com/office/drawing/2014/main" id="{92F1DEFA-2491-E4A7-9E82-0118737E1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Platzhalter für Notizen 2">
            <a:extLst>
              <a:ext uri="{FF2B5EF4-FFF2-40B4-BE49-F238E27FC236}">
                <a16:creationId xmlns:a16="http://schemas.microsoft.com/office/drawing/2014/main" id="{6DCF5F92-C46C-21E1-EB9B-B6CB93B1C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BDF1AE9-37EF-4974-6FCD-B6AFE17D33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9590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20.06.2026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20.06.2026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20.06.2026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20.06.2026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20.06.2026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20.06.2026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20.06.2026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20.06.2026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Klicken Sie auf das Symbol, um ein Bild hinzuzufügen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20.06.2026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20.06.2026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20.06.2026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de-DE" smtClean="0"/>
              <a:t>20.06.2026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dulbaukasten.ch/module/293/1/de-DE?tab=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dulbaukasten.ch/module/426/1/de-DE?tab=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dulbaukasten.ch/module/347/1/de-DE?tab=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dulbaukasten.ch/module/169/1/de-DE?tab=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1CBD87F6-D08C-ECCE-7BBB-701DAC3BB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665065"/>
              </p:ext>
            </p:extLst>
          </p:nvPr>
        </p:nvGraphicFramePr>
        <p:xfrm>
          <a:off x="1481541" y="506965"/>
          <a:ext cx="10075939" cy="6131823"/>
        </p:xfrm>
        <a:graphic>
          <a:graphicData uri="http://schemas.openxmlformats.org/drawingml/2006/table">
            <a:tbl>
              <a:tblPr/>
              <a:tblGrid>
                <a:gridCol w="2015156">
                  <a:extLst>
                    <a:ext uri="{9D8B030D-6E8A-4147-A177-3AD203B41FA5}">
                      <a16:colId xmlns:a16="http://schemas.microsoft.com/office/drawing/2014/main" val="3089167362"/>
                    </a:ext>
                  </a:extLst>
                </a:gridCol>
                <a:gridCol w="806057">
                  <a:extLst>
                    <a:ext uri="{9D8B030D-6E8A-4147-A177-3AD203B41FA5}">
                      <a16:colId xmlns:a16="http://schemas.microsoft.com/office/drawing/2014/main" val="1543507887"/>
                    </a:ext>
                  </a:extLst>
                </a:gridCol>
                <a:gridCol w="2418186">
                  <a:extLst>
                    <a:ext uri="{9D8B030D-6E8A-4147-A177-3AD203B41FA5}">
                      <a16:colId xmlns:a16="http://schemas.microsoft.com/office/drawing/2014/main" val="3306401430"/>
                    </a:ext>
                  </a:extLst>
                </a:gridCol>
                <a:gridCol w="2418186">
                  <a:extLst>
                    <a:ext uri="{9D8B030D-6E8A-4147-A177-3AD203B41FA5}">
                      <a16:colId xmlns:a16="http://schemas.microsoft.com/office/drawing/2014/main" val="1778869889"/>
                    </a:ext>
                  </a:extLst>
                </a:gridCol>
                <a:gridCol w="2418354">
                  <a:extLst>
                    <a:ext uri="{9D8B030D-6E8A-4147-A177-3AD203B41FA5}">
                      <a16:colId xmlns:a16="http://schemas.microsoft.com/office/drawing/2014/main" val="363586677"/>
                    </a:ext>
                  </a:extLst>
                </a:gridCol>
              </a:tblGrid>
              <a:tr h="1721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Kompetenzband</a:t>
                      </a:r>
                    </a:p>
                  </a:txBody>
                  <a:tcPr marL="40061" marR="16025" marT="8012" marB="1669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HZ</a:t>
                      </a:r>
                    </a:p>
                  </a:txBody>
                  <a:tcPr marL="16025" marR="16025" marT="8012" marB="1669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Beginner (B)</a:t>
                      </a:r>
                    </a:p>
                  </a:txBody>
                  <a:tcPr marL="16025" marR="16025" marT="8012" marB="1669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Intermediate (I)</a:t>
                      </a:r>
                    </a:p>
                  </a:txBody>
                  <a:tcPr marL="16025" marR="16025" marT="8012" marB="1669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Advanced (A)</a:t>
                      </a:r>
                    </a:p>
                  </a:txBody>
                  <a:tcPr marL="16025" marR="40061" marT="8012" marB="1669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678554"/>
                  </a:ext>
                </a:extLst>
              </a:tr>
              <a:tr h="476574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b="0" dirty="0">
                          <a:effectLst/>
                          <a:latin typeface="inherit"/>
                        </a:rPr>
                        <a:t>A1 - Gestaltungsentwurf verstehen</a:t>
                      </a:r>
                    </a:p>
                  </a:txBody>
                  <a:tcPr marL="4006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  <a:hlinkClick r:id="rId3"/>
                        </a:rPr>
                        <a:t>1</a:t>
                      </a:r>
                      <a:endParaRPr lang="de-CH" sz="1050">
                        <a:effectLst/>
                        <a:latin typeface="inherit"/>
                      </a:endParaRP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A1B - Ich kann den Zweck eines Gestaltungsentwurf erklären (z.B. Wireframe, Mockup, klickbarer Prototyp...).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A1I - Ich kann einen Gestaltungsentwurf erfassen und erläutern (z.B. Wireframe, Mockup, klickbarer Prototyp...).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A1A - Ich kann einen Gestaltungsentwurf hinterfragen und Verbesserungen zur Machbarkeit einbringen.</a:t>
                      </a:r>
                    </a:p>
                  </a:txBody>
                  <a:tcPr marL="20031" marR="4006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510366"/>
                  </a:ext>
                </a:extLst>
              </a:tr>
              <a:tr h="619750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B1 - HTTP Protokoll verstehen</a:t>
                      </a:r>
                    </a:p>
                  </a:txBody>
                  <a:tcPr marL="4006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  <a:hlinkClick r:id="rId3"/>
                        </a:rPr>
                        <a:t>1, 2</a:t>
                      </a:r>
                      <a:endParaRPr lang="de-CH" sz="1050">
                        <a:effectLst/>
                        <a:latin typeface="inherit"/>
                      </a:endParaRP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B1B - Ich kann den Ablauf einer HTTP-Anfrage (Request/Response) zwischen Client und Server erklären.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B1I - Ich kann den Aufbau einer HTTP-Verbindung (Request/Response) erklären (z.B. Header, Body, Key-Value, Cookies, Caching).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B1A - Ich kann den Inhalt einer HTTP-Anfrage analysieren (z.B. mit Hookbin).</a:t>
                      </a:r>
                    </a:p>
                  </a:txBody>
                  <a:tcPr marL="20031" marR="4006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639612"/>
                  </a:ext>
                </a:extLst>
              </a:tr>
              <a:tr h="476574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C1 - HTTP-Anfragemethoden anwenden</a:t>
                      </a:r>
                    </a:p>
                  </a:txBody>
                  <a:tcPr marL="4006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  <a:hlinkClick r:id="rId3"/>
                        </a:rPr>
                        <a:t>1, 2</a:t>
                      </a:r>
                      <a:endParaRPr lang="de-CH" sz="1050">
                        <a:effectLst/>
                        <a:latin typeface="inherit"/>
                      </a:endParaRP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C1B - Ich kann die Anfragemethoden des HTTP-Protokolls erläutern und Eigenheiten erklären (z.B. GET, POST).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C1I - Ich kann die Anfragemethoden des HTTP-Protokolls anwenden (z.B. GET, POST).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C1A - Ich kann eine HTTP-Anfragemethode begründet auswählen (z.B. POST, GET).</a:t>
                      </a:r>
                    </a:p>
                  </a:txBody>
                  <a:tcPr marL="20031" marR="4006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457368"/>
                  </a:ext>
                </a:extLst>
              </a:tr>
              <a:tr h="476574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D1 - Werkzeug-Unterstützung</a:t>
                      </a:r>
                    </a:p>
                  </a:txBody>
                  <a:tcPr marL="4006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  <a:hlinkClick r:id="rId3"/>
                        </a:rPr>
                        <a:t>1, 2</a:t>
                      </a:r>
                      <a:endParaRPr lang="de-CH" sz="1050">
                        <a:effectLst/>
                        <a:latin typeface="inherit"/>
                      </a:endParaRP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D1B - Ich kenne eine Entwicklungsumgebung und kann diese verwenden.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D1I - Ich kann die Entwicklerwerkzeuge der Browser anwenden.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D1A - Ich kann alle Werkzeuge effizient einsetzen (z.B. Scaffolding, Cache-Manager, Console, Key-Shortcuts).</a:t>
                      </a:r>
                    </a:p>
                  </a:txBody>
                  <a:tcPr marL="20031" marR="4006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842835"/>
                  </a:ext>
                </a:extLst>
              </a:tr>
              <a:tr h="476574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E1 - Webseite aufbauen</a:t>
                      </a:r>
                    </a:p>
                  </a:txBody>
                  <a:tcPr marL="4006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  <a:hlinkClick r:id="rId3"/>
                        </a:rPr>
                        <a:t>2, 3</a:t>
                      </a:r>
                      <a:endParaRPr lang="de-CH" sz="1050">
                        <a:effectLst/>
                        <a:latin typeface="inherit"/>
                      </a:endParaRP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E1B - Ich kann den Aufbau einer Webseite erklären (z.B. Header, Body, Footer, Tags, Metatags).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E1I - Ich kann eine grundlegende Webseite aufbauen (z.B. Header, Body, Footer, Tags, Metatags).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E1A - Ich kann den Webauftritt aus mehreren Teilen aufbauen (z.B. Multipage, Templates, Komponenten).</a:t>
                      </a:r>
                    </a:p>
                  </a:txBody>
                  <a:tcPr marL="20031" marR="4006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788243"/>
                  </a:ext>
                </a:extLst>
              </a:tr>
              <a:tr h="476574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F1 - Formulare anwenden</a:t>
                      </a:r>
                    </a:p>
                  </a:txBody>
                  <a:tcPr marL="4006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  <a:hlinkClick r:id="rId3"/>
                        </a:rPr>
                        <a:t>2, 3</a:t>
                      </a:r>
                      <a:endParaRPr lang="de-CH" sz="1050">
                        <a:effectLst/>
                        <a:latin typeface="inherit"/>
                      </a:endParaRP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F1B - Ich kann den Aufbau und die Funktion eines Formulars erklären (z.B. HTML Forms).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F1I - Ich kann ein Formular gemäss Vorgabe umsetzen.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F1A - Ich kann die Funktion eines Formulars kritisch hinterfragen und Verbesserungen einbringen.</a:t>
                      </a:r>
                    </a:p>
                  </a:txBody>
                  <a:tcPr marL="20031" marR="4006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23602"/>
                  </a:ext>
                </a:extLst>
              </a:tr>
              <a:tr h="385777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F2 - Formulare anwenden</a:t>
                      </a:r>
                    </a:p>
                  </a:txBody>
                  <a:tcPr marL="4006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  <a:hlinkClick r:id="rId3"/>
                        </a:rPr>
                        <a:t>2, 3</a:t>
                      </a:r>
                      <a:endParaRPr lang="de-CH" sz="1050">
                        <a:effectLst/>
                        <a:latin typeface="inherit"/>
                      </a:endParaRP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F2B - Ich kann Formularelemente erläutern (z.B. Eingabe-Feld, Dropdown, Selektion).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F2I - Ich kann Formularelemente anwenden (z.B. Feld, Dropdown, Selection).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F2A - Ich kann komplexere Formularelemente anwenden (z.B. Label).</a:t>
                      </a:r>
                    </a:p>
                  </a:txBody>
                  <a:tcPr marL="20031" marR="4006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296483"/>
                  </a:ext>
                </a:extLst>
              </a:tr>
              <a:tr h="333398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G1 - Styling und Layout anwenden</a:t>
                      </a:r>
                    </a:p>
                  </a:txBody>
                  <a:tcPr marL="4006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  <a:hlinkClick r:id="rId3"/>
                        </a:rPr>
                        <a:t>2, 3</a:t>
                      </a:r>
                      <a:endParaRPr lang="de-CH" sz="1050">
                        <a:effectLst/>
                        <a:latin typeface="inherit"/>
                      </a:endParaRP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G1B - Ich kann erläutern, wozu ein Layout dient.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G1I - Ich kann ein einfaches Layout mit HTML umsetzen.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G1A - Ich kann ein Layout analysieren und Verbesserungen vorschlagen.</a:t>
                      </a:r>
                    </a:p>
                  </a:txBody>
                  <a:tcPr marL="20031" marR="4006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060878"/>
                  </a:ext>
                </a:extLst>
              </a:tr>
              <a:tr h="333398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G2 - Styling und Layout anwenden</a:t>
                      </a:r>
                    </a:p>
                  </a:txBody>
                  <a:tcPr marL="4006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  <a:hlinkClick r:id="rId3"/>
                        </a:rPr>
                        <a:t>2, 3</a:t>
                      </a:r>
                      <a:endParaRPr lang="de-CH" sz="1050">
                        <a:effectLst/>
                        <a:latin typeface="inherit"/>
                      </a:endParaRP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G2B - Ich kann erläutern, wozu das Styling dient.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G2I - Ich kann ein einheitliches Styling mit CSS umsetzen.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G2A - Ich kann eine responsive Webseite gemäss Vorgaben umsetzen.</a:t>
                      </a:r>
                    </a:p>
                  </a:txBody>
                  <a:tcPr marL="20031" marR="4006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5897"/>
                  </a:ext>
                </a:extLst>
              </a:tr>
              <a:tr h="498686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H1 - Umsetzung validieren und verbessern</a:t>
                      </a:r>
                    </a:p>
                  </a:txBody>
                  <a:tcPr marL="4006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  <a:hlinkClick r:id="rId3"/>
                        </a:rPr>
                        <a:t>3</a:t>
                      </a:r>
                      <a:endParaRPr lang="de-CH" sz="1050">
                        <a:effectLst/>
                        <a:latin typeface="inherit"/>
                      </a:endParaRP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H1B - Ich kann Methoden zum Überprüfen und Verbessern des Webauftrittes erläutern (z.B. Konventionen, Validatoren).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H1I - Ich kann überprüfen, ob die Anforderungen umgesetzt wurden (z.B. Liste der Anforderungen abhaken).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H1A - Ich kann den Webauftritt kritisch hinterfragen und Verbesserungen vorschlagen.</a:t>
                      </a:r>
                    </a:p>
                  </a:txBody>
                  <a:tcPr marL="20031" marR="4006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708268"/>
                  </a:ext>
                </a:extLst>
              </a:tr>
              <a:tr h="498686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H2 - Umsetzung validieren und verbessern</a:t>
                      </a:r>
                    </a:p>
                  </a:txBody>
                  <a:tcPr marL="4006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  <a:hlinkClick r:id="rId3"/>
                        </a:rPr>
                        <a:t>3</a:t>
                      </a:r>
                      <a:endParaRPr lang="de-CH" sz="1050">
                        <a:effectLst/>
                        <a:latin typeface="inherit"/>
                      </a:endParaRP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H2B - Ich kann Methoden für die Verbesserung des Webauftrittes erläutern (z.B. Konventionen, automatisierte Tools).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H2I - Ich kann Konventionen einsetzen (z.B. Coding-Guidelines, Style-Guidelines).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H2A - Ich kann automatisierte Überprüfungen einsetzen (z.B. Validatoren, Linter).</a:t>
                      </a:r>
                    </a:p>
                  </a:txBody>
                  <a:tcPr marL="20031" marR="4006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166434"/>
                  </a:ext>
                </a:extLst>
              </a:tr>
              <a:tr h="476574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I1 - Webauftritt veröffentlichen</a:t>
                      </a:r>
                    </a:p>
                  </a:txBody>
                  <a:tcPr marL="4006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  <a:hlinkClick r:id="rId3"/>
                        </a:rPr>
                        <a:t>4</a:t>
                      </a:r>
                      <a:endParaRPr lang="de-CH" sz="1050">
                        <a:effectLst/>
                        <a:latin typeface="inherit"/>
                      </a:endParaRP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I1B - Ich kann den Prozess der Veröffentlichung eines Webauftrittes erklären.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I1I - Ich kann einen Webauftritt veröffentlichen (z.B. FTP, SFTP).</a:t>
                      </a:r>
                    </a:p>
                  </a:txBody>
                  <a:tcPr marL="20031" marR="2003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dirty="0">
                          <a:effectLst/>
                          <a:latin typeface="inherit"/>
                        </a:rPr>
                        <a:t>I1A - Ich kann einen Webauftritt automatisiert veröffentlichen (z.B. </a:t>
                      </a:r>
                      <a:r>
                        <a:rPr lang="de-CH" sz="1050" dirty="0" err="1">
                          <a:effectLst/>
                          <a:latin typeface="inherit"/>
                        </a:rPr>
                        <a:t>Continous</a:t>
                      </a:r>
                      <a:r>
                        <a:rPr lang="de-CH" sz="1050" dirty="0">
                          <a:effectLst/>
                          <a:latin typeface="inherit"/>
                        </a:rPr>
                        <a:t> Integration.</a:t>
                      </a:r>
                    </a:p>
                  </a:txBody>
                  <a:tcPr marL="20031" marR="40061" marT="20031" marB="2003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418368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A3ED86AD-78E4-A32C-D0A7-38AD5DA3A02E}"/>
              </a:ext>
            </a:extLst>
          </p:cNvPr>
          <p:cNvSpPr txBox="1"/>
          <p:nvPr/>
        </p:nvSpPr>
        <p:spPr>
          <a:xfrm>
            <a:off x="288758" y="259882"/>
            <a:ext cx="837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293</a:t>
            </a:r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F293C-AB0F-3AA0-68B6-B2AC31A8A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91BB7DFD-5095-8B9F-5B1B-BDA72F122628}"/>
              </a:ext>
            </a:extLst>
          </p:cNvPr>
          <p:cNvSpPr txBox="1"/>
          <p:nvPr/>
        </p:nvSpPr>
        <p:spPr>
          <a:xfrm>
            <a:off x="288758" y="259882"/>
            <a:ext cx="837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dirty="0"/>
              <a:t>426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59D39A13-7FDE-E2C9-44C1-FF8E4D801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354724"/>
              </p:ext>
            </p:extLst>
          </p:nvPr>
        </p:nvGraphicFramePr>
        <p:xfrm>
          <a:off x="510140" y="750771"/>
          <a:ext cx="11146054" cy="6044957"/>
        </p:xfrm>
        <a:graphic>
          <a:graphicData uri="http://schemas.openxmlformats.org/drawingml/2006/table">
            <a:tbl>
              <a:tblPr/>
              <a:tblGrid>
                <a:gridCol w="2229179">
                  <a:extLst>
                    <a:ext uri="{9D8B030D-6E8A-4147-A177-3AD203B41FA5}">
                      <a16:colId xmlns:a16="http://schemas.microsoft.com/office/drawing/2014/main" val="3664582895"/>
                    </a:ext>
                  </a:extLst>
                </a:gridCol>
                <a:gridCol w="891659">
                  <a:extLst>
                    <a:ext uri="{9D8B030D-6E8A-4147-A177-3AD203B41FA5}">
                      <a16:colId xmlns:a16="http://schemas.microsoft.com/office/drawing/2014/main" val="2792789024"/>
                    </a:ext>
                  </a:extLst>
                </a:gridCol>
                <a:gridCol w="2675010">
                  <a:extLst>
                    <a:ext uri="{9D8B030D-6E8A-4147-A177-3AD203B41FA5}">
                      <a16:colId xmlns:a16="http://schemas.microsoft.com/office/drawing/2014/main" val="86155823"/>
                    </a:ext>
                  </a:extLst>
                </a:gridCol>
                <a:gridCol w="2675010">
                  <a:extLst>
                    <a:ext uri="{9D8B030D-6E8A-4147-A177-3AD203B41FA5}">
                      <a16:colId xmlns:a16="http://schemas.microsoft.com/office/drawing/2014/main" val="2909480590"/>
                    </a:ext>
                  </a:extLst>
                </a:gridCol>
                <a:gridCol w="2675196">
                  <a:extLst>
                    <a:ext uri="{9D8B030D-6E8A-4147-A177-3AD203B41FA5}">
                      <a16:colId xmlns:a16="http://schemas.microsoft.com/office/drawing/2014/main" val="3112543876"/>
                    </a:ext>
                  </a:extLst>
                </a:gridCol>
              </a:tblGrid>
              <a:tr h="13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Kompetenzband</a:t>
                      </a:r>
                    </a:p>
                  </a:txBody>
                  <a:tcPr marL="35897" marR="14359" marT="7179" marB="1495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HZ</a:t>
                      </a:r>
                    </a:p>
                  </a:txBody>
                  <a:tcPr marL="14359" marR="14359" marT="7179" marB="1495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Beginner (B)</a:t>
                      </a:r>
                    </a:p>
                  </a:txBody>
                  <a:tcPr marL="14359" marR="14359" marT="7179" marB="1495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Intermediate (I)</a:t>
                      </a:r>
                    </a:p>
                  </a:txBody>
                  <a:tcPr marL="14359" marR="14359" marT="7179" marB="1495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Advanced (A)</a:t>
                      </a:r>
                    </a:p>
                  </a:txBody>
                  <a:tcPr marL="14359" marR="35897" marT="7179" marB="1495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209289"/>
                  </a:ext>
                </a:extLst>
              </a:tr>
              <a:tr h="706804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A1 - Agile Methoden kennen</a:t>
                      </a:r>
                    </a:p>
                  </a:txBody>
                  <a:tcPr marL="35897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  <a:hlinkClick r:id="rId3"/>
                        </a:rPr>
                        <a:t>1</a:t>
                      </a:r>
                      <a:endParaRPr lang="de-CH" sz="1000">
                        <a:effectLst/>
                        <a:latin typeface="inherit"/>
                      </a:endParaRP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A1B - Ich kann die linearen Vorgehensmodelle wie das Wasserfall-Modell, das V-Modell und RUP sowie die zyklischen Modelle wie das Spiralmodell und die unterschiedlichen Prototypenverfahren erläutern</a:t>
                      </a: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A1I - Ich kann das “Agile Manifesto” und dessen Prinzipien erklären und aufzeigen, was daran gut ist und wo Probleme auftauchen können</a:t>
                      </a: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A1A - Ich kann die linearen und die zyklischen Vorgehensmodelle erkennen und aufzeigen, wie das Beste von allem kombiniert werden kann</a:t>
                      </a:r>
                    </a:p>
                  </a:txBody>
                  <a:tcPr marL="17949" marR="35897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469568"/>
                  </a:ext>
                </a:extLst>
              </a:tr>
              <a:tr h="486501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A2 - Agile Methoden kennen</a:t>
                      </a:r>
                    </a:p>
                  </a:txBody>
                  <a:tcPr marL="35897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  <a:hlinkClick r:id="rId3"/>
                        </a:rPr>
                        <a:t>1</a:t>
                      </a:r>
                      <a:endParaRPr lang="de-CH" sz="1000">
                        <a:effectLst/>
                        <a:latin typeface="inherit"/>
                      </a:endParaRP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A2B - Ich kann das SCRUM-Modell mit dem zyklischen Ablauf, den Rollen, den Zeremonien (Meetings/Sitzungen) und die Philosophie von SCRUM erklären</a:t>
                      </a: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A2I - Ich kann aufzeigen, wie ein Vorhaben in eine “Vision”, in “Epics” und in “User-Stories” formuliert werden kann</a:t>
                      </a: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A2A - Ich kann ein Vorhaben mit meinem Team in einen SCRUM-Ablauf einkleiden und die richtigen Schritte planen</a:t>
                      </a:r>
                    </a:p>
                  </a:txBody>
                  <a:tcPr marL="17949" marR="35897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124191"/>
                  </a:ext>
                </a:extLst>
              </a:tr>
              <a:tr h="761880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A3 - Agile Methoden kennen</a:t>
                      </a:r>
                    </a:p>
                  </a:txBody>
                  <a:tcPr marL="35897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  <a:hlinkClick r:id="rId3"/>
                        </a:rPr>
                        <a:t>1</a:t>
                      </a:r>
                      <a:endParaRPr lang="de-CH" sz="1000">
                        <a:effectLst/>
                        <a:latin typeface="inherit"/>
                      </a:endParaRP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A3B - Ich kann die drei Aspekte erklären, wie man eine Anforderung in einem Satz für eine User-Story formuliert</a:t>
                      </a: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A3I - Ich kann unter Einhaltung der DoR eine User-Story beschreiben, sie gemeinsam mit dem Team einordnen und deren Aufwand mit Story Points bewerten (Planning Poker) sowie Abnahmekriterien dafür bestimmen (DoD)</a:t>
                      </a: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A3A - Ich kann den “guten” Schnitt zwischen User-Story und Aufgaben-Tasks zusammen mit dem Team bestimmen</a:t>
                      </a:r>
                    </a:p>
                  </a:txBody>
                  <a:tcPr marL="17949" marR="35897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215223"/>
                  </a:ext>
                </a:extLst>
              </a:tr>
              <a:tr h="541577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B1 - Agile Iteration realisieren</a:t>
                      </a:r>
                    </a:p>
                  </a:txBody>
                  <a:tcPr marL="35897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  <a:hlinkClick r:id="rId3"/>
                        </a:rPr>
                        <a:t>2</a:t>
                      </a:r>
                      <a:endParaRPr lang="de-CH" sz="1000">
                        <a:effectLst/>
                        <a:latin typeface="inherit"/>
                      </a:endParaRP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B1B - Ich kann bestehende Softwaremodule interpretieren und erklären, wo für die Umsetzung einer User Story die Software ergänzt werden muss</a:t>
                      </a: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B1I - Ich kann die Software für die Umsetzung einer User Story implementieren</a:t>
                      </a: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B1A - Ich kann bestehende Software für die Umsetzung einer User Story anpassen (Refactoring)</a:t>
                      </a:r>
                    </a:p>
                  </a:txBody>
                  <a:tcPr marL="17949" marR="35897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482050"/>
                  </a:ext>
                </a:extLst>
              </a:tr>
              <a:tr h="486501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B2 - Agile Iteration realisieren</a:t>
                      </a:r>
                    </a:p>
                  </a:txBody>
                  <a:tcPr marL="35897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  <a:hlinkClick r:id="rId3"/>
                        </a:rPr>
                        <a:t>2</a:t>
                      </a:r>
                      <a:endParaRPr lang="de-CH" sz="1000">
                        <a:effectLst/>
                        <a:latin typeface="inherit"/>
                      </a:endParaRP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B2B - Ich kann die Bedeutung einer lauffähigen Software im Rahmen der agilen Softwareentwicklung erläutern</a:t>
                      </a: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B2I - Ich kann die von mir umgesetzte User-Story anhand der lauffähigen Software präsentieren und zeigen, dass die DoD eingehalten sind</a:t>
                      </a: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B2A - Ich kann eine Sprint-Demo vorbereiten (inkl. Burndown Chart) und durchführen</a:t>
                      </a:r>
                    </a:p>
                  </a:txBody>
                  <a:tcPr marL="17949" marR="35897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413401"/>
                  </a:ext>
                </a:extLst>
              </a:tr>
              <a:tr h="596653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C1 - Komponenten wiederverwenden</a:t>
                      </a:r>
                    </a:p>
                  </a:txBody>
                  <a:tcPr marL="35897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  <a:hlinkClick r:id="rId3"/>
                        </a:rPr>
                        <a:t>3</a:t>
                      </a:r>
                      <a:endParaRPr lang="de-CH" sz="1000">
                        <a:effectLst/>
                        <a:latin typeface="inherit"/>
                      </a:endParaRP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C1B - Ich kann das Prinzip von Softwarekomponenten (Wiederverwendbarkeit, Aufgabenaufteilung, Schnittstellen) an einem Beispiel erläutern</a:t>
                      </a: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C1I - Ich kann für eine Applikation, unter Berücksichtigung der Wiederverwendbarkeit, Softwarekomponenten evaluieren und auswählen</a:t>
                      </a: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C1A - Ich kann in einem Entwurf Softwarekomponenten identifizieren, deren Wiederverwendbarkeit beurteilen und begründet integrieren</a:t>
                      </a:r>
                    </a:p>
                  </a:txBody>
                  <a:tcPr marL="17949" marR="35897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042034"/>
                  </a:ext>
                </a:extLst>
              </a:tr>
              <a:tr h="651728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D1 - Vorgehen reflektieren und verbessern</a:t>
                      </a:r>
                    </a:p>
                  </a:txBody>
                  <a:tcPr marL="35897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  <a:hlinkClick r:id="rId3"/>
                        </a:rPr>
                        <a:t>4</a:t>
                      </a:r>
                      <a:endParaRPr lang="de-CH" sz="1000">
                        <a:effectLst/>
                        <a:latin typeface="inherit"/>
                      </a:endParaRP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D1B - Ich kann erklären, wie ich mich auf das Daily Scrum vorbereite</a:t>
                      </a: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D1I - Ich kann meine Erfahrungen und Erkenntnisse an der Retrospektive einbringen und geeignete Verbesserungsmassnahmen ableiten</a:t>
                      </a: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D1A - Ich kann eine Retrospektive vorbereiten und anleiten sowie die gewonnenen Erkenntnisse priorisieren und in konkrete Verbesserungsmassnahmen überführen</a:t>
                      </a:r>
                    </a:p>
                  </a:txBody>
                  <a:tcPr marL="17949" marR="35897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524630"/>
                  </a:ext>
                </a:extLst>
              </a:tr>
              <a:tr h="651728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E1 - Versionsverwaltung anwenden</a:t>
                      </a:r>
                    </a:p>
                  </a:txBody>
                  <a:tcPr marL="35897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  <a:hlinkClick r:id="rId3"/>
                        </a:rPr>
                        <a:t>5</a:t>
                      </a:r>
                      <a:endParaRPr lang="de-CH" sz="1000">
                        <a:effectLst/>
                        <a:latin typeface="inherit"/>
                      </a:endParaRP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E1B - Ich kann ein Repository klonen, Änderungen committen und pushen sowie Änderungen vom Server übernehmen (fetch, pull) und das Anwenden von Branches erklären (z. B. Git-Flow)</a:t>
                      </a: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E1I - Ich kann mit Merge Requests umgehen und Branches gezielt anwenden (z. B. Git-Flow)</a:t>
                      </a: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E1A - Ich kann Merge-Konflikte lösen, den Git-Tree kritisch hinterfragen und Verbesserungen umsetzen (z. B. rebase, cherry-pick)</a:t>
                      </a:r>
                    </a:p>
                  </a:txBody>
                  <a:tcPr marL="17949" marR="35897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421284"/>
                  </a:ext>
                </a:extLst>
              </a:tr>
              <a:tr h="541577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F1 - Umgang mit Clean Code und Refactorings</a:t>
                      </a:r>
                    </a:p>
                  </a:txBody>
                  <a:tcPr marL="35897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  <a:hlinkClick r:id="rId3"/>
                        </a:rPr>
                        <a:t>6</a:t>
                      </a:r>
                      <a:endParaRPr lang="de-CH" sz="1000">
                        <a:effectLst/>
                        <a:latin typeface="inherit"/>
                      </a:endParaRP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F1B - Ich kann erklären, was zur guten Lesbarkeit von Code wichtig ist und welche Regeln es zu beachten gibt</a:t>
                      </a: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F1I - Ich kann einen Code durch die Anwendung der “Clean Code”-Empfehlungen besser lesbar machen und ein Refactoring durchführen</a:t>
                      </a:r>
                    </a:p>
                  </a:txBody>
                  <a:tcPr marL="17949" marR="17949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 dirty="0">
                          <a:effectLst/>
                          <a:latin typeface="inherit"/>
                        </a:rPr>
                        <a:t>F1A - Ich kann Funktionsbereiche zur besseren Verständlichkeit so umschreiben, dass die (</a:t>
                      </a:r>
                      <a:r>
                        <a:rPr lang="de-CH" sz="1000" dirty="0" err="1">
                          <a:effectLst/>
                          <a:latin typeface="inherit"/>
                        </a:rPr>
                        <a:t>zyklomatische</a:t>
                      </a:r>
                      <a:r>
                        <a:rPr lang="de-CH" sz="1000" dirty="0">
                          <a:effectLst/>
                          <a:latin typeface="inherit"/>
                        </a:rPr>
                        <a:t>) Komplexität entflochten wird</a:t>
                      </a:r>
                    </a:p>
                  </a:txBody>
                  <a:tcPr marL="17949" marR="35897" marT="17949" marB="1794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79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2080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2B9EB-C5A3-F072-B93D-FBA214BFD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27952BCA-D949-91A6-0AF0-33435ABA13F9}"/>
              </a:ext>
            </a:extLst>
          </p:cNvPr>
          <p:cNvSpPr txBox="1"/>
          <p:nvPr/>
        </p:nvSpPr>
        <p:spPr>
          <a:xfrm>
            <a:off x="288758" y="259882"/>
            <a:ext cx="837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dirty="0"/>
              <a:t>347</a:t>
            </a:r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18C9D7EB-DCAD-8F61-1AE3-331B05C82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452084"/>
              </p:ext>
            </p:extLst>
          </p:nvPr>
        </p:nvGraphicFramePr>
        <p:xfrm>
          <a:off x="288757" y="702645"/>
          <a:ext cx="11790948" cy="5865803"/>
        </p:xfrm>
        <a:graphic>
          <a:graphicData uri="http://schemas.openxmlformats.org/drawingml/2006/table">
            <a:tbl>
              <a:tblPr/>
              <a:tblGrid>
                <a:gridCol w="2358152">
                  <a:extLst>
                    <a:ext uri="{9D8B030D-6E8A-4147-A177-3AD203B41FA5}">
                      <a16:colId xmlns:a16="http://schemas.microsoft.com/office/drawing/2014/main" val="1747284419"/>
                    </a:ext>
                  </a:extLst>
                </a:gridCol>
                <a:gridCol w="943256">
                  <a:extLst>
                    <a:ext uri="{9D8B030D-6E8A-4147-A177-3AD203B41FA5}">
                      <a16:colId xmlns:a16="http://schemas.microsoft.com/office/drawing/2014/main" val="2614246437"/>
                    </a:ext>
                  </a:extLst>
                </a:gridCol>
                <a:gridCol w="2829783">
                  <a:extLst>
                    <a:ext uri="{9D8B030D-6E8A-4147-A177-3AD203B41FA5}">
                      <a16:colId xmlns:a16="http://schemas.microsoft.com/office/drawing/2014/main" val="795303039"/>
                    </a:ext>
                  </a:extLst>
                </a:gridCol>
                <a:gridCol w="2829783">
                  <a:extLst>
                    <a:ext uri="{9D8B030D-6E8A-4147-A177-3AD203B41FA5}">
                      <a16:colId xmlns:a16="http://schemas.microsoft.com/office/drawing/2014/main" val="3902274428"/>
                    </a:ext>
                  </a:extLst>
                </a:gridCol>
                <a:gridCol w="2829974">
                  <a:extLst>
                    <a:ext uri="{9D8B030D-6E8A-4147-A177-3AD203B41FA5}">
                      <a16:colId xmlns:a16="http://schemas.microsoft.com/office/drawing/2014/main" val="2369059210"/>
                    </a:ext>
                  </a:extLst>
                </a:gridCol>
              </a:tblGrid>
              <a:tr h="148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1000" b="0" dirty="0">
                          <a:effectLst/>
                          <a:latin typeface="inherit"/>
                        </a:rPr>
                        <a:t>Kompetenzband</a:t>
                      </a:r>
                    </a:p>
                  </a:txBody>
                  <a:tcPr marL="36996" marR="14798" marT="7399" marB="1541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HZ</a:t>
                      </a:r>
                    </a:p>
                  </a:txBody>
                  <a:tcPr marL="14798" marR="14798" marT="7399" marB="1541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Beginner (B)</a:t>
                      </a:r>
                    </a:p>
                  </a:txBody>
                  <a:tcPr marL="14798" marR="14798" marT="7399" marB="1541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Intermediate (I)</a:t>
                      </a:r>
                    </a:p>
                  </a:txBody>
                  <a:tcPr marL="14798" marR="14798" marT="7399" marB="1541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Advanced (A)</a:t>
                      </a:r>
                    </a:p>
                  </a:txBody>
                  <a:tcPr marL="14798" marR="36996" marT="7399" marB="1541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723109"/>
                  </a:ext>
                </a:extLst>
              </a:tr>
              <a:tr h="582295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 b="0" dirty="0">
                          <a:effectLst/>
                          <a:latin typeface="inherit"/>
                        </a:rPr>
                        <a:t>A1 - Grundlagen</a:t>
                      </a:r>
                    </a:p>
                  </a:txBody>
                  <a:tcPr marL="36996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  <a:hlinkClick r:id="rId3"/>
                        </a:rPr>
                        <a:t>1</a:t>
                      </a:r>
                      <a:endParaRPr lang="de-CH" sz="1000">
                        <a:effectLst/>
                        <a:latin typeface="inherit"/>
                      </a:endParaRP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A1B - Ich kann zwischen Container und virtuellen Maschinen unterscheiden und deren Vor- und Nachteile aufzählen</a:t>
                      </a: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A1I - Ich kann Anforderungen für einen Dienst mit Containern zielgerichtet und strukturiert erfassen</a:t>
                      </a: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A1A - Ich kann Anforderungen für einen Dienst mit Containern analysieren und Verbesserungen sowie Optimierungen vorschlagen</a:t>
                      </a:r>
                    </a:p>
                  </a:txBody>
                  <a:tcPr marL="18498" marR="36996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82639"/>
                  </a:ext>
                </a:extLst>
              </a:tr>
              <a:tr h="641512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B1 - Containerkomposition (Architektur)</a:t>
                      </a:r>
                    </a:p>
                  </a:txBody>
                  <a:tcPr marL="36996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  <a:hlinkClick r:id="rId3"/>
                        </a:rPr>
                        <a:t>2</a:t>
                      </a:r>
                      <a:endParaRPr lang="de-CH" sz="1000">
                        <a:effectLst/>
                        <a:latin typeface="inherit"/>
                      </a:endParaRP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B1B - Ich kann die Unterschiede zwischen monolithischen und Micro-Service-Architekturen darlegen und beschreiben</a:t>
                      </a: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B1I - Ich kann aufgrund der Anforderungen eine sinnvolle Container-Komposition vorschlagen und begründen</a:t>
                      </a: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B1A - Ich kann aufgrund der Anforderungen mehrere Varianten von Container-Komposition vorschlagen und deren Vor- und Nachteile begründen</a:t>
                      </a:r>
                    </a:p>
                  </a:txBody>
                  <a:tcPr marL="18498" marR="36996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939301"/>
                  </a:ext>
                </a:extLst>
              </a:tr>
              <a:tr h="700728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B2 - Containerkomposition (Architektur)</a:t>
                      </a:r>
                    </a:p>
                  </a:txBody>
                  <a:tcPr marL="36996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  <a:hlinkClick r:id="rId3"/>
                        </a:rPr>
                        <a:t>2</a:t>
                      </a:r>
                      <a:endParaRPr lang="de-CH" sz="1000">
                        <a:effectLst/>
                        <a:latin typeface="inherit"/>
                      </a:endParaRP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B2B - Ich kann die wichtigsten Bestandteile der Container-Technologie aufzählen und beschreiben</a:t>
                      </a: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B2I - Ich kann eine einfache Analyse zur Entwicklung und Betrieb von containerisierten Diensten und Applikationen erstellen und erklären</a:t>
                      </a: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B2A - Ich kann ein einfaches (Netzwerk-)Diagramm zum sicheren Betrieb von containerisierten Diensten und Applikationen erstellen und beschreiben</a:t>
                      </a:r>
                    </a:p>
                  </a:txBody>
                  <a:tcPr marL="18498" marR="36996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999024"/>
                  </a:ext>
                </a:extLst>
              </a:tr>
              <a:tr h="523079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C1 - Containerdienstleister auswählen</a:t>
                      </a:r>
                    </a:p>
                  </a:txBody>
                  <a:tcPr marL="36996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  <a:hlinkClick r:id="rId3"/>
                        </a:rPr>
                        <a:t>3</a:t>
                      </a:r>
                      <a:endParaRPr lang="de-CH" sz="1000">
                        <a:effectLst/>
                        <a:latin typeface="inherit"/>
                      </a:endParaRP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C1B - Ich kann die benötigten Dienste des Containerdienstleisters für meine Zielapplikation aufzählen und beschreiben</a:t>
                      </a: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C1I - Ich kann die Vor- und Nachteile von Public-Cloud-Anbietern (PCA) beschreiben und diese gegenüberstellen</a:t>
                      </a: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C1A - Ich kann eine Entscheidungsmatrix mit relevanten Kriterien erstellen, um einen Containerdienstleister auszuwählen</a:t>
                      </a:r>
                    </a:p>
                  </a:txBody>
                  <a:tcPr marL="18498" marR="36996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961772"/>
                  </a:ext>
                </a:extLst>
              </a:tr>
              <a:tr h="463863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C2 - Containerdienstleister auswählen</a:t>
                      </a:r>
                    </a:p>
                  </a:txBody>
                  <a:tcPr marL="36996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  <a:hlinkClick r:id="rId3"/>
                        </a:rPr>
                        <a:t>3</a:t>
                      </a:r>
                      <a:endParaRPr lang="de-CH" sz="1000">
                        <a:effectLst/>
                        <a:latin typeface="inherit"/>
                      </a:endParaRP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C2B - Ich kann wesentliche Merkmale einer Container-Registry nennen und Beispiele aufzählen</a:t>
                      </a: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C2I - Ich kann die relevantesten Technologien zur Orchestrierung von Containern aufzählen und deren Zweck beschreiben</a:t>
                      </a: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C2A - Ich kann die Unterschiede zwischen public und private Container Registry aufzählen und beschreiben</a:t>
                      </a:r>
                    </a:p>
                  </a:txBody>
                  <a:tcPr marL="18498" marR="36996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140897"/>
                  </a:ext>
                </a:extLst>
              </a:tr>
              <a:tr h="759944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D1 - Praxis mit Containern in der Entwicklung erlangen</a:t>
                      </a:r>
                    </a:p>
                  </a:txBody>
                  <a:tcPr marL="36996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  <a:hlinkClick r:id="rId3"/>
                        </a:rPr>
                        <a:t>4</a:t>
                      </a:r>
                      <a:endParaRPr lang="de-CH" sz="1000">
                        <a:effectLst/>
                        <a:latin typeface="inherit"/>
                      </a:endParaRP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D1B - Ich kann die Schritte zur Virtualisierung eines containerisierten Dienstes und Applikationen aufzeigen und beschreiben</a:t>
                      </a: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D1I - Ich kann eine einfache Container-Konfiguration gemäss Vorgaben erweitern, anpassen und ausführen</a:t>
                      </a: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D1A - Ich kann eine umfangreiche Container-Konfiguration gemäss Vorgaben erweitern, anpassen und ausführen, mögliche Fehlerquellen erkennen und beheben</a:t>
                      </a:r>
                    </a:p>
                  </a:txBody>
                  <a:tcPr marL="18498" marR="36996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439678"/>
                  </a:ext>
                </a:extLst>
              </a:tr>
              <a:tr h="641512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D2 - Praxis mit Containern in der Entwicklung erlangen</a:t>
                      </a:r>
                    </a:p>
                  </a:txBody>
                  <a:tcPr marL="36996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  <a:hlinkClick r:id="rId3"/>
                        </a:rPr>
                        <a:t>4</a:t>
                      </a:r>
                      <a:endParaRPr lang="de-CH" sz="1000">
                        <a:effectLst/>
                        <a:latin typeface="inherit"/>
                      </a:endParaRP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D2B - Ich kann Container-Images aus einem Repository beziehen und anschliessend starten, anbinden/ausführen (attach/exec), evtl. Ports mappen, stoppen, löschen</a:t>
                      </a: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D2I - Ich kann selbst erstellte Container-Images in einer Registry dokumentieren und publizieren</a:t>
                      </a: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D2A - Ich kann selbst erstellte Container-Images in mehrere Registries dokumentieren und publizieren</a:t>
                      </a:r>
                    </a:p>
                  </a:txBody>
                  <a:tcPr marL="18498" marR="36996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621333"/>
                  </a:ext>
                </a:extLst>
              </a:tr>
              <a:tr h="759944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E1 - Praxis mit Containern beim Public-Cloud-Anbieter (PCA) erlangen (Betrieb)</a:t>
                      </a:r>
                    </a:p>
                  </a:txBody>
                  <a:tcPr marL="36996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  <a:hlinkClick r:id="rId3"/>
                        </a:rPr>
                        <a:t>2, 3, 4</a:t>
                      </a:r>
                      <a:endParaRPr lang="de-CH" sz="1000">
                        <a:effectLst/>
                        <a:latin typeface="inherit"/>
                      </a:endParaRP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E1B - Ich kann einen sicheren Zugriff auf den PCA konfigurieren und anwenden sowie mindestens eine vom PCA zur Verfügung gestellte Storage-Variante beschreiben, konfigurieren und anwenden</a:t>
                      </a: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E1I - Ich kann eine Cloud-Instanz des PCA konfigurieren und verwalten sowie die verschiedenen Varianten zur Skalierung von PCA-Instanzen aufzählen und mindestens eine konfigurieren</a:t>
                      </a: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E1A - Ich kann ein einfaches Netzwerk gemäss Vorgaben zum sicheren Betrieb von containerisierten Diensten konfigurieren und Metadaten einer Cloud-Instanz verwalten und auslesen</a:t>
                      </a:r>
                    </a:p>
                  </a:txBody>
                  <a:tcPr marL="18498" marR="36996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614107"/>
                  </a:ext>
                </a:extLst>
              </a:tr>
              <a:tr h="582295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 b="0">
                          <a:effectLst/>
                          <a:latin typeface="inherit"/>
                        </a:rPr>
                        <a:t>F1 - Qualitätskontrollen planen und umsetzen</a:t>
                      </a:r>
                    </a:p>
                  </a:txBody>
                  <a:tcPr marL="36996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  <a:hlinkClick r:id="rId3"/>
                        </a:rPr>
                        <a:t>5</a:t>
                      </a:r>
                      <a:endParaRPr lang="de-CH" sz="1000">
                        <a:effectLst/>
                        <a:latin typeface="inherit"/>
                      </a:endParaRP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F1B - Ich kann die wichtigsten Methoden zur Qualitätssicherung und -kontrolle von Containern aufzählen und beschreiben</a:t>
                      </a: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>
                          <a:effectLst/>
                          <a:latin typeface="inherit"/>
                        </a:rPr>
                        <a:t>F1I - Ich kann die wichtigsten Indikatoren zum sicheren Betreiben (Security) von Containern aufzählen und beschreiben</a:t>
                      </a:r>
                    </a:p>
                  </a:txBody>
                  <a:tcPr marL="18498" marR="18498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00" dirty="0">
                          <a:effectLst/>
                          <a:latin typeface="inherit"/>
                        </a:rPr>
                        <a:t>F1A - Ich kann bei einem vorgegebenen Container-Image die grundlegendsten Sicherheitslücken überprüfen und beseitigen</a:t>
                      </a:r>
                    </a:p>
                  </a:txBody>
                  <a:tcPr marL="18498" marR="36996" marT="18498" marB="18498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660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3125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A26A9-A696-A10F-F17E-E40FA2748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87E2319A-6301-7B66-0617-323A67BD4810}"/>
              </a:ext>
            </a:extLst>
          </p:cNvPr>
          <p:cNvSpPr txBox="1"/>
          <p:nvPr/>
        </p:nvSpPr>
        <p:spPr>
          <a:xfrm>
            <a:off x="288758" y="259882"/>
            <a:ext cx="837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dirty="0"/>
              <a:t>169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E9F74575-E060-1010-4344-E9CDCA4EE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461524"/>
              </p:ext>
            </p:extLst>
          </p:nvPr>
        </p:nvGraphicFramePr>
        <p:xfrm>
          <a:off x="272716" y="598436"/>
          <a:ext cx="11646567" cy="6193729"/>
        </p:xfrm>
        <a:graphic>
          <a:graphicData uri="http://schemas.openxmlformats.org/drawingml/2006/table">
            <a:tbl>
              <a:tblPr/>
              <a:tblGrid>
                <a:gridCol w="2329277">
                  <a:extLst>
                    <a:ext uri="{9D8B030D-6E8A-4147-A177-3AD203B41FA5}">
                      <a16:colId xmlns:a16="http://schemas.microsoft.com/office/drawing/2014/main" val="442180783"/>
                    </a:ext>
                  </a:extLst>
                </a:gridCol>
                <a:gridCol w="931705">
                  <a:extLst>
                    <a:ext uri="{9D8B030D-6E8A-4147-A177-3AD203B41FA5}">
                      <a16:colId xmlns:a16="http://schemas.microsoft.com/office/drawing/2014/main" val="3987767352"/>
                    </a:ext>
                  </a:extLst>
                </a:gridCol>
                <a:gridCol w="2795130">
                  <a:extLst>
                    <a:ext uri="{9D8B030D-6E8A-4147-A177-3AD203B41FA5}">
                      <a16:colId xmlns:a16="http://schemas.microsoft.com/office/drawing/2014/main" val="2993389019"/>
                    </a:ext>
                  </a:extLst>
                </a:gridCol>
                <a:gridCol w="2795130">
                  <a:extLst>
                    <a:ext uri="{9D8B030D-6E8A-4147-A177-3AD203B41FA5}">
                      <a16:colId xmlns:a16="http://schemas.microsoft.com/office/drawing/2014/main" val="3295495129"/>
                    </a:ext>
                  </a:extLst>
                </a:gridCol>
                <a:gridCol w="2795325">
                  <a:extLst>
                    <a:ext uri="{9D8B030D-6E8A-4147-A177-3AD203B41FA5}">
                      <a16:colId xmlns:a16="http://schemas.microsoft.com/office/drawing/2014/main" val="608884983"/>
                    </a:ext>
                  </a:extLst>
                </a:gridCol>
              </a:tblGrid>
              <a:tr h="1492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Kompetenzband</a:t>
                      </a:r>
                    </a:p>
                  </a:txBody>
                  <a:tcPr marL="37377" marR="14951" marT="7475" marB="1557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HZ</a:t>
                      </a:r>
                    </a:p>
                  </a:txBody>
                  <a:tcPr marL="14951" marR="14951" marT="7475" marB="1557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Beginner (B)</a:t>
                      </a:r>
                    </a:p>
                  </a:txBody>
                  <a:tcPr marL="14951" marR="14951" marT="7475" marB="1557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Intermediate (I)</a:t>
                      </a:r>
                    </a:p>
                  </a:txBody>
                  <a:tcPr marL="14951" marR="14951" marT="7475" marB="1557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Advanced (A)</a:t>
                      </a:r>
                    </a:p>
                  </a:txBody>
                  <a:tcPr marL="14951" marR="37377" marT="7475" marB="1557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695031"/>
                  </a:ext>
                </a:extLst>
              </a:tr>
              <a:tr h="465146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A1 - Container-Umgebung definieren</a:t>
                      </a:r>
                    </a:p>
                  </a:txBody>
                  <a:tcPr marL="37377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  <a:hlinkClick r:id="rId3"/>
                        </a:rPr>
                        <a:t>1, 2, 8</a:t>
                      </a:r>
                      <a:endParaRPr lang="de-CH" sz="1050">
                        <a:effectLst/>
                        <a:latin typeface="inherit"/>
                      </a:endParaRP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A1B - Ich kann zwischen Containern und virtuellen Maschinen unterscheiden sowie deren Vor- und Nachteile aufzählen</a:t>
                      </a: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A1I - Ich kann bestehende Container einsetzen und deren Konfiguration anpassen</a:t>
                      </a: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A1A - Ich kann eine Container-Umgebung mit einem oder mehreren Services planen und aufsetzen</a:t>
                      </a:r>
                    </a:p>
                  </a:txBody>
                  <a:tcPr marL="18689" marR="37377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092680"/>
                  </a:ext>
                </a:extLst>
              </a:tr>
              <a:tr h="583907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B1 - Microservice-Architektur erläutern</a:t>
                      </a:r>
                    </a:p>
                  </a:txBody>
                  <a:tcPr marL="37377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  <a:hlinkClick r:id="rId3"/>
                        </a:rPr>
                        <a:t>1, 2</a:t>
                      </a:r>
                      <a:endParaRPr lang="de-CH" sz="1050">
                        <a:effectLst/>
                        <a:latin typeface="inherit"/>
                      </a:endParaRP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B1B - Ich kann den Unterschied zwischen einer monolithischen und einer Microservice-Architektur beschreiben</a:t>
                      </a: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B1I - Ich kann eine Microservice-Architektur mit Eigenschaften eines verteilten Systems, wie Schnittstellen und Vernetzung, erläutern</a:t>
                      </a: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B1A - Ich kann den Einfluss des Microservice-Paradigmas auf eine Zielarchitektur analysieren und geeignete Massnahmen vorschlagen</a:t>
                      </a:r>
                    </a:p>
                  </a:txBody>
                  <a:tcPr marL="18689" marR="37377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15698"/>
                  </a:ext>
                </a:extLst>
              </a:tr>
              <a:tr h="762047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C1 - Synchrone und asynchrone Services unterscheiden</a:t>
                      </a:r>
                    </a:p>
                  </a:txBody>
                  <a:tcPr marL="37377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  <a:hlinkClick r:id="rId3"/>
                        </a:rPr>
                        <a:t>1, 2, 5</a:t>
                      </a:r>
                      <a:endParaRPr lang="de-CH" sz="1050">
                        <a:effectLst/>
                        <a:latin typeface="inherit"/>
                      </a:endParaRP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C1B - Ich kann Eigenschaften von synchronen und asynchronen Services beschreiben und deren Unterschiede erläutern</a:t>
                      </a: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C1I - Ich kann Beispiele für synchrone und asynchrone Anwendungsfälle nennen und diese einem Verwendungszweck zuordnen</a:t>
                      </a: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C1A - Ich kann für einen gegebenen Anwendungsfall geeignete Schnittstellen vorschlagen und den Zusammenhang zwischen verteilten Systemen und asynchronen Services erklären</a:t>
                      </a:r>
                    </a:p>
                  </a:txBody>
                  <a:tcPr marL="18689" marR="37377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00868"/>
                  </a:ext>
                </a:extLst>
              </a:tr>
              <a:tr h="643288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D1 - Codebasierten Serviceaufbau einsetzen</a:t>
                      </a:r>
                    </a:p>
                  </a:txBody>
                  <a:tcPr marL="37377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  <a:hlinkClick r:id="rId3"/>
                        </a:rPr>
                        <a:t>3</a:t>
                      </a:r>
                      <a:endParaRPr lang="de-CH" sz="1050">
                        <a:effectLst/>
                        <a:latin typeface="inherit"/>
                      </a:endParaRP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D1B - Ich kann Werkzeuge und Methoden zur Beschreibung von Services mittels Infrastructure as Code (IaC) beschreiben und deren Einsatzzweck erklären</a:t>
                      </a: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D1I - Ich kann den Ablauf zur Erstellung von codebasierten Services beschreiben und Werkzeuge mit Syntaxunterstützung sowie Prüfung der Codekonsistenz verwenden</a:t>
                      </a: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D1A - Ich kann Service-Konfigurationen codebasiert in Containern bereitstellen und mit IaC dokumentieren</a:t>
                      </a:r>
                    </a:p>
                  </a:txBody>
                  <a:tcPr marL="18689" marR="37377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486024"/>
                  </a:ext>
                </a:extLst>
              </a:tr>
              <a:tr h="643288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E1 - Qualität für codebasierte Service-Bereitstellung sicherstellen</a:t>
                      </a:r>
                    </a:p>
                  </a:txBody>
                  <a:tcPr marL="37377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  <a:hlinkClick r:id="rId3"/>
                        </a:rPr>
                        <a:t>3, 4</a:t>
                      </a:r>
                      <a:endParaRPr lang="de-CH" sz="1050">
                        <a:effectLst/>
                        <a:latin typeface="inherit"/>
                      </a:endParaRP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E1B - Ich kann Methoden zur Sicherstellung der Qualität bei der Verwendung von Code beschreiben</a:t>
                      </a: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E1I - Ich kann den Nutzen und Einsatzzweck eines Versionsverwaltungssystems erläutern, insbesondere hinsichtlich Qualität für codebasierte Service-Bereitstellung</a:t>
                      </a: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E1A - Ich kann ein Versionsverwaltungssystem zur Verwaltung und Erstellung von versioniertem, kommentiertem Code anwenden</a:t>
                      </a:r>
                    </a:p>
                  </a:txBody>
                  <a:tcPr marL="18689" marR="37377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124031"/>
                  </a:ext>
                </a:extLst>
              </a:tr>
              <a:tr h="583907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F1 - Sicherheitsanforderungen berücksichtigen</a:t>
                      </a:r>
                    </a:p>
                  </a:txBody>
                  <a:tcPr marL="37377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  <a:hlinkClick r:id="rId3"/>
                        </a:rPr>
                        <a:t>4</a:t>
                      </a:r>
                      <a:endParaRPr lang="de-CH" sz="1050">
                        <a:effectLst/>
                        <a:latin typeface="inherit"/>
                      </a:endParaRP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F1B - Ich kann Massnahmen und Methoden zur Umsetzung von Sicherheitsanforderungen beschreiben</a:t>
                      </a: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F1I - Ich kann Sicherheitsanforderungen umsetzen und auf ihre Wirksamkeit prüfen</a:t>
                      </a: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F1A - Ich kann bei unzureichenden Sicherheitsanforderungen zusätzliche Massnahmen definieren und umsetzen, um die Sicherheit zu erhöhen</a:t>
                      </a:r>
                    </a:p>
                  </a:txBody>
                  <a:tcPr marL="18689" marR="37377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828570"/>
                  </a:ext>
                </a:extLst>
              </a:tr>
              <a:tr h="583907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G1 - Datenverbindungen zwischen Services konfigurieren</a:t>
                      </a:r>
                    </a:p>
                  </a:txBody>
                  <a:tcPr marL="37377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  <a:hlinkClick r:id="rId3"/>
                        </a:rPr>
                        <a:t>4, 5</a:t>
                      </a:r>
                      <a:endParaRPr lang="de-CH" sz="1050">
                        <a:effectLst/>
                        <a:latin typeface="inherit"/>
                      </a:endParaRP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G1B - Ich kann bereits konfigurierte Datenverbindungen unterscheiden und ihrem Nutzen zuordnen</a:t>
                      </a: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G1I - Ich kann Konfigurationen für Datenverbindungen nach Vorgaben umsetzen, um einen sicheren Datenaustausch zwischen Services zu ermöglichen</a:t>
                      </a: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G1A - Ich kann eigene Datenverbindungen gemäss Anforderungen zur Sicherheit und Persistenz konfigurieren</a:t>
                      </a:r>
                    </a:p>
                  </a:txBody>
                  <a:tcPr marL="18689" marR="37377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795007"/>
                  </a:ext>
                </a:extLst>
              </a:tr>
              <a:tr h="524527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H1 - Services in Containern bereitstellen</a:t>
                      </a:r>
                    </a:p>
                  </a:txBody>
                  <a:tcPr marL="37377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  <a:hlinkClick r:id="rId3"/>
                        </a:rPr>
                        <a:t>6, 7, 8</a:t>
                      </a:r>
                      <a:endParaRPr lang="de-CH" sz="1050">
                        <a:effectLst/>
                        <a:latin typeface="inherit"/>
                      </a:endParaRP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H1B - Ich kann vorgegebene Container bereitstellen und ihre Funktionsfähigkeit mit geeigneten Mitteln überprüfen</a:t>
                      </a: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H1I - Ich kann einen oder mehrere Services in Containern bereitstellen und geeignete Mittel zur Behebung von Fehlern einsetzen</a:t>
                      </a: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H1A - Ich kann über eine Registry Container-Images wiederverwenden und eigene Images in der Registry verfügbar machen</a:t>
                      </a:r>
                    </a:p>
                  </a:txBody>
                  <a:tcPr marL="18689" marR="37377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910390"/>
                  </a:ext>
                </a:extLst>
              </a:tr>
              <a:tr h="821428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b="0">
                          <a:effectLst/>
                          <a:latin typeface="inherit"/>
                        </a:rPr>
                        <a:t>I1 - Services administrieren und überwachen</a:t>
                      </a:r>
                    </a:p>
                  </a:txBody>
                  <a:tcPr marL="37377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  <a:hlinkClick r:id="rId3"/>
                        </a:rPr>
                        <a:t>7, 8</a:t>
                      </a:r>
                      <a:endParaRPr lang="de-CH" sz="1050">
                        <a:effectLst/>
                        <a:latin typeface="inherit"/>
                      </a:endParaRP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I1B - Ich kann die Zusammenhänge einer containerisierten Infrastruktur und erforderliche Massnahmen für eine zuverlässige Überwachung beschreiben</a:t>
                      </a: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>
                          <a:effectLst/>
                          <a:latin typeface="inherit"/>
                        </a:rPr>
                        <a:t>I1I - Ich kann die Ressourcenverwendung von Services nachvollziehen und überwachen</a:t>
                      </a:r>
                    </a:p>
                  </a:txBody>
                  <a:tcPr marL="18689" marR="18689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de-CH" sz="1050" dirty="0">
                          <a:effectLst/>
                          <a:latin typeface="inherit"/>
                        </a:rPr>
                        <a:t>I1A - Ich kann den Ressourcenbedarf für containerisierte Services mit konkreten Annahmen bestimmen, diesen mit dem effektiven Bedarf vergleichen und Massnahmen zur Ressourcenoptimierung definieren</a:t>
                      </a:r>
                    </a:p>
                  </a:txBody>
                  <a:tcPr marL="18689" marR="37377" marT="18689" marB="1868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590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9135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2406</Words>
  <Application>Microsoft Office PowerPoint</Application>
  <PresentationFormat>Breitbild</PresentationFormat>
  <Paragraphs>223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inherit</vt:lpstr>
      <vt:lpstr>Office Theme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Staub</dc:creator>
  <cp:lastModifiedBy>Thomas Staub</cp:lastModifiedBy>
  <cp:revision>5</cp:revision>
  <dcterms:created xsi:type="dcterms:W3CDTF">2012-12-03T06:56:55Z</dcterms:created>
  <dcterms:modified xsi:type="dcterms:W3CDTF">2026-06-20T07:03:43Z</dcterms:modified>
</cp:coreProperties>
</file>